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8" d="100"/>
          <a:sy n="68" d="100"/>
        </p:scale>
        <p:origin x="1262"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GANESHWAR HARIBABU" userId="e97042a10f10e9d2" providerId="LiveId" clId="{3C64233F-F6FA-43D6-86B7-8AD934332C6A}"/>
    <pc:docChg chg="modSld">
      <pc:chgData name="SUGANESHWAR HARIBABU" userId="e97042a10f10e9d2" providerId="LiveId" clId="{3C64233F-F6FA-43D6-86B7-8AD934332C6A}" dt="2026-02-08T16:55:33.647" v="1" actId="1076"/>
      <pc:docMkLst>
        <pc:docMk/>
      </pc:docMkLst>
      <pc:sldChg chg="modSp mod">
        <pc:chgData name="SUGANESHWAR HARIBABU" userId="e97042a10f10e9d2" providerId="LiveId" clId="{3C64233F-F6FA-43D6-86B7-8AD934332C6A}" dt="2026-02-08T16:55:33.647" v="1" actId="1076"/>
        <pc:sldMkLst>
          <pc:docMk/>
          <pc:sldMk cId="3798869006" sldId="257"/>
        </pc:sldMkLst>
        <pc:spChg chg="mod">
          <ac:chgData name="SUGANESHWAR HARIBABU" userId="e97042a10f10e9d2" providerId="LiveId" clId="{3C64233F-F6FA-43D6-86B7-8AD934332C6A}" dt="2026-02-08T16:55:33.647" v="1" actId="1076"/>
          <ac:spMkLst>
            <pc:docMk/>
            <pc:sldMk cId="3798869006" sldId="257"/>
            <ac:spMk id="3" creationId="{6B080379-BA49-6E28-23D1-F52ACBD231E8}"/>
          </ac:spMkLst>
        </pc:spChg>
      </pc:sldChg>
      <pc:sldChg chg="modSp mod">
        <pc:chgData name="SUGANESHWAR HARIBABU" userId="e97042a10f10e9d2" providerId="LiveId" clId="{3C64233F-F6FA-43D6-86B7-8AD934332C6A}" dt="2026-02-08T16:55:20.667" v="0" actId="1076"/>
        <pc:sldMkLst>
          <pc:docMk/>
          <pc:sldMk cId="1486607896" sldId="263"/>
        </pc:sldMkLst>
        <pc:spChg chg="mod">
          <ac:chgData name="SUGANESHWAR HARIBABU" userId="e97042a10f10e9d2" providerId="LiveId" clId="{3C64233F-F6FA-43D6-86B7-8AD934332C6A}" dt="2026-02-08T16:55:20.667" v="0" actId="1076"/>
          <ac:spMkLst>
            <pc:docMk/>
            <pc:sldMk cId="1486607896" sldId="263"/>
            <ac:spMk id="2" creationId="{D5FD21B0-21F0-7D9F-E1E5-E4B7B45A9FDF}"/>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E4FA0-9F2D-D361-077F-B2DE14FE9F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1BCF3F3-066F-6BB4-3F20-11E9A1171C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A8ECA31-30A9-BC63-172D-FDD180398FE4}"/>
              </a:ext>
            </a:extLst>
          </p:cNvPr>
          <p:cNvSpPr>
            <a:spLocks noGrp="1"/>
          </p:cNvSpPr>
          <p:nvPr>
            <p:ph type="dt" sz="half" idx="10"/>
          </p:nvPr>
        </p:nvSpPr>
        <p:spPr/>
        <p:txBody>
          <a:bodyPr/>
          <a:lstStyle/>
          <a:p>
            <a:fld id="{5DBC7180-CE58-4B7A-A9CA-A78E22AEE3BD}" type="datetimeFigureOut">
              <a:rPr lang="en-IN" smtClean="0"/>
              <a:t>08-02-2026</a:t>
            </a:fld>
            <a:endParaRPr lang="en-IN"/>
          </a:p>
        </p:txBody>
      </p:sp>
      <p:sp>
        <p:nvSpPr>
          <p:cNvPr id="5" name="Footer Placeholder 4">
            <a:extLst>
              <a:ext uri="{FF2B5EF4-FFF2-40B4-BE49-F238E27FC236}">
                <a16:creationId xmlns:a16="http://schemas.microsoft.com/office/drawing/2014/main" id="{2C9A29DC-11B8-DA5E-A1D1-A29B631D43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D60B88-8837-75F2-82BC-B203B0951A6A}"/>
              </a:ext>
            </a:extLst>
          </p:cNvPr>
          <p:cNvSpPr>
            <a:spLocks noGrp="1"/>
          </p:cNvSpPr>
          <p:nvPr>
            <p:ph type="sldNum" sz="quarter" idx="12"/>
          </p:nvPr>
        </p:nvSpPr>
        <p:spPr/>
        <p:txBody>
          <a:bodyPr/>
          <a:lstStyle/>
          <a:p>
            <a:fld id="{DCC248F6-D6C0-4B6A-8FB3-0FA97864E557}" type="slidenum">
              <a:rPr lang="en-IN" smtClean="0"/>
              <a:t>‹#›</a:t>
            </a:fld>
            <a:endParaRPr lang="en-IN"/>
          </a:p>
        </p:txBody>
      </p:sp>
    </p:spTree>
    <p:extLst>
      <p:ext uri="{BB962C8B-B14F-4D97-AF65-F5344CB8AC3E}">
        <p14:creationId xmlns:p14="http://schemas.microsoft.com/office/powerpoint/2010/main" val="1625074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FFED4-604A-04CC-ACD3-33276D095DB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161E17C-0AB4-834A-8783-7061D54630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644C76-321F-7661-2A2D-C4B9C86F841F}"/>
              </a:ext>
            </a:extLst>
          </p:cNvPr>
          <p:cNvSpPr>
            <a:spLocks noGrp="1"/>
          </p:cNvSpPr>
          <p:nvPr>
            <p:ph type="dt" sz="half" idx="10"/>
          </p:nvPr>
        </p:nvSpPr>
        <p:spPr/>
        <p:txBody>
          <a:bodyPr/>
          <a:lstStyle/>
          <a:p>
            <a:fld id="{5DBC7180-CE58-4B7A-A9CA-A78E22AEE3BD}" type="datetimeFigureOut">
              <a:rPr lang="en-IN" smtClean="0"/>
              <a:t>08-02-2026</a:t>
            </a:fld>
            <a:endParaRPr lang="en-IN"/>
          </a:p>
        </p:txBody>
      </p:sp>
      <p:sp>
        <p:nvSpPr>
          <p:cNvPr id="5" name="Footer Placeholder 4">
            <a:extLst>
              <a:ext uri="{FF2B5EF4-FFF2-40B4-BE49-F238E27FC236}">
                <a16:creationId xmlns:a16="http://schemas.microsoft.com/office/drawing/2014/main" id="{B66F6324-8C3A-8695-4B23-5592D1B65F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DECBCC-9D79-7F00-8CC4-08C2F9F63C6A}"/>
              </a:ext>
            </a:extLst>
          </p:cNvPr>
          <p:cNvSpPr>
            <a:spLocks noGrp="1"/>
          </p:cNvSpPr>
          <p:nvPr>
            <p:ph type="sldNum" sz="quarter" idx="12"/>
          </p:nvPr>
        </p:nvSpPr>
        <p:spPr/>
        <p:txBody>
          <a:bodyPr/>
          <a:lstStyle/>
          <a:p>
            <a:fld id="{DCC248F6-D6C0-4B6A-8FB3-0FA97864E557}" type="slidenum">
              <a:rPr lang="en-IN" smtClean="0"/>
              <a:t>‹#›</a:t>
            </a:fld>
            <a:endParaRPr lang="en-IN"/>
          </a:p>
        </p:txBody>
      </p:sp>
    </p:spTree>
    <p:extLst>
      <p:ext uri="{BB962C8B-B14F-4D97-AF65-F5344CB8AC3E}">
        <p14:creationId xmlns:p14="http://schemas.microsoft.com/office/powerpoint/2010/main" val="196255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323B7-AAA7-A61D-1C2E-73B148EB74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E7F6E70-9062-2539-593B-DB03D3FB4B2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0D4136-2D7B-98AC-729F-1DEC71A11472}"/>
              </a:ext>
            </a:extLst>
          </p:cNvPr>
          <p:cNvSpPr>
            <a:spLocks noGrp="1"/>
          </p:cNvSpPr>
          <p:nvPr>
            <p:ph type="dt" sz="half" idx="10"/>
          </p:nvPr>
        </p:nvSpPr>
        <p:spPr/>
        <p:txBody>
          <a:bodyPr/>
          <a:lstStyle/>
          <a:p>
            <a:fld id="{5DBC7180-CE58-4B7A-A9CA-A78E22AEE3BD}" type="datetimeFigureOut">
              <a:rPr lang="en-IN" smtClean="0"/>
              <a:t>08-02-2026</a:t>
            </a:fld>
            <a:endParaRPr lang="en-IN"/>
          </a:p>
        </p:txBody>
      </p:sp>
      <p:sp>
        <p:nvSpPr>
          <p:cNvPr id="5" name="Footer Placeholder 4">
            <a:extLst>
              <a:ext uri="{FF2B5EF4-FFF2-40B4-BE49-F238E27FC236}">
                <a16:creationId xmlns:a16="http://schemas.microsoft.com/office/drawing/2014/main" id="{FC5E6390-3DD0-1B49-B94A-3E3A998CDB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E81A22-99CB-A796-1A1C-E6FC489DA270}"/>
              </a:ext>
            </a:extLst>
          </p:cNvPr>
          <p:cNvSpPr>
            <a:spLocks noGrp="1"/>
          </p:cNvSpPr>
          <p:nvPr>
            <p:ph type="sldNum" sz="quarter" idx="12"/>
          </p:nvPr>
        </p:nvSpPr>
        <p:spPr/>
        <p:txBody>
          <a:bodyPr/>
          <a:lstStyle/>
          <a:p>
            <a:fld id="{DCC248F6-D6C0-4B6A-8FB3-0FA97864E557}" type="slidenum">
              <a:rPr lang="en-IN" smtClean="0"/>
              <a:t>‹#›</a:t>
            </a:fld>
            <a:endParaRPr lang="en-IN"/>
          </a:p>
        </p:txBody>
      </p:sp>
    </p:spTree>
    <p:extLst>
      <p:ext uri="{BB962C8B-B14F-4D97-AF65-F5344CB8AC3E}">
        <p14:creationId xmlns:p14="http://schemas.microsoft.com/office/powerpoint/2010/main" val="965684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6E69A-FD31-4CD9-01E3-5A3F912BDCE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DE9575-451D-72E5-08D6-0713BCD4A53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49878DB-5D4F-F838-D40E-5B5B97B17D4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C974BEE-FF0E-FD49-F5D3-93991F0BB01C}"/>
              </a:ext>
            </a:extLst>
          </p:cNvPr>
          <p:cNvSpPr>
            <a:spLocks noGrp="1"/>
          </p:cNvSpPr>
          <p:nvPr>
            <p:ph type="dt" sz="half" idx="10"/>
          </p:nvPr>
        </p:nvSpPr>
        <p:spPr/>
        <p:txBody>
          <a:bodyPr/>
          <a:lstStyle/>
          <a:p>
            <a:fld id="{5DBC7180-CE58-4B7A-A9CA-A78E22AEE3BD}" type="datetimeFigureOut">
              <a:rPr lang="en-IN" smtClean="0"/>
              <a:t>08-02-2026</a:t>
            </a:fld>
            <a:endParaRPr lang="en-IN"/>
          </a:p>
        </p:txBody>
      </p:sp>
      <p:sp>
        <p:nvSpPr>
          <p:cNvPr id="6" name="Footer Placeholder 5">
            <a:extLst>
              <a:ext uri="{FF2B5EF4-FFF2-40B4-BE49-F238E27FC236}">
                <a16:creationId xmlns:a16="http://schemas.microsoft.com/office/drawing/2014/main" id="{142DA017-5B51-E9BD-88AA-512EF6F373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49ED65C-59C6-BA3E-72DA-075E9E7FBA44}"/>
              </a:ext>
            </a:extLst>
          </p:cNvPr>
          <p:cNvSpPr>
            <a:spLocks noGrp="1"/>
          </p:cNvSpPr>
          <p:nvPr>
            <p:ph type="sldNum" sz="quarter" idx="12"/>
          </p:nvPr>
        </p:nvSpPr>
        <p:spPr/>
        <p:txBody>
          <a:bodyPr/>
          <a:lstStyle/>
          <a:p>
            <a:fld id="{DCC248F6-D6C0-4B6A-8FB3-0FA97864E557}" type="slidenum">
              <a:rPr lang="en-IN" smtClean="0"/>
              <a:t>‹#›</a:t>
            </a:fld>
            <a:endParaRPr lang="en-IN"/>
          </a:p>
        </p:txBody>
      </p:sp>
    </p:spTree>
    <p:extLst>
      <p:ext uri="{BB962C8B-B14F-4D97-AF65-F5344CB8AC3E}">
        <p14:creationId xmlns:p14="http://schemas.microsoft.com/office/powerpoint/2010/main" val="42093878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B68C5-E5F7-12F0-9F13-86885DA8AD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2438F6B-E7BF-139F-72FE-BBB959E725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47877C-01CD-1E20-56AB-D1F0BDE5B34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B17B794-3E68-82F0-2A6C-26B516CE7F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1D82450-4BB1-D818-0E5A-528D4C5C31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4FBA98E-A2E1-0233-A7E8-6453102EE29A}"/>
              </a:ext>
            </a:extLst>
          </p:cNvPr>
          <p:cNvSpPr>
            <a:spLocks noGrp="1"/>
          </p:cNvSpPr>
          <p:nvPr>
            <p:ph type="dt" sz="half" idx="10"/>
          </p:nvPr>
        </p:nvSpPr>
        <p:spPr/>
        <p:txBody>
          <a:bodyPr/>
          <a:lstStyle/>
          <a:p>
            <a:fld id="{5DBC7180-CE58-4B7A-A9CA-A78E22AEE3BD}" type="datetimeFigureOut">
              <a:rPr lang="en-IN" smtClean="0"/>
              <a:t>08-02-2026</a:t>
            </a:fld>
            <a:endParaRPr lang="en-IN"/>
          </a:p>
        </p:txBody>
      </p:sp>
      <p:sp>
        <p:nvSpPr>
          <p:cNvPr id="8" name="Footer Placeholder 7">
            <a:extLst>
              <a:ext uri="{FF2B5EF4-FFF2-40B4-BE49-F238E27FC236}">
                <a16:creationId xmlns:a16="http://schemas.microsoft.com/office/drawing/2014/main" id="{EA86DAC4-287B-A43C-EC6B-93A1902D0F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AAF2027-7A70-D787-DE41-C913D9BB9696}"/>
              </a:ext>
            </a:extLst>
          </p:cNvPr>
          <p:cNvSpPr>
            <a:spLocks noGrp="1"/>
          </p:cNvSpPr>
          <p:nvPr>
            <p:ph type="sldNum" sz="quarter" idx="12"/>
          </p:nvPr>
        </p:nvSpPr>
        <p:spPr/>
        <p:txBody>
          <a:bodyPr/>
          <a:lstStyle/>
          <a:p>
            <a:fld id="{DCC248F6-D6C0-4B6A-8FB3-0FA97864E557}" type="slidenum">
              <a:rPr lang="en-IN" smtClean="0"/>
              <a:t>‹#›</a:t>
            </a:fld>
            <a:endParaRPr lang="en-IN"/>
          </a:p>
        </p:txBody>
      </p:sp>
    </p:spTree>
    <p:extLst>
      <p:ext uri="{BB962C8B-B14F-4D97-AF65-F5344CB8AC3E}">
        <p14:creationId xmlns:p14="http://schemas.microsoft.com/office/powerpoint/2010/main" val="2635778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8C212-64E2-0F18-19F7-E10D06CDE30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09D9FF1-9175-543B-6A27-89C83EEE5744}"/>
              </a:ext>
            </a:extLst>
          </p:cNvPr>
          <p:cNvSpPr>
            <a:spLocks noGrp="1"/>
          </p:cNvSpPr>
          <p:nvPr>
            <p:ph type="dt" sz="half" idx="10"/>
          </p:nvPr>
        </p:nvSpPr>
        <p:spPr/>
        <p:txBody>
          <a:bodyPr/>
          <a:lstStyle/>
          <a:p>
            <a:fld id="{5DBC7180-CE58-4B7A-A9CA-A78E22AEE3BD}" type="datetimeFigureOut">
              <a:rPr lang="en-IN" smtClean="0"/>
              <a:t>08-02-2026</a:t>
            </a:fld>
            <a:endParaRPr lang="en-IN"/>
          </a:p>
        </p:txBody>
      </p:sp>
      <p:sp>
        <p:nvSpPr>
          <p:cNvPr id="4" name="Footer Placeholder 3">
            <a:extLst>
              <a:ext uri="{FF2B5EF4-FFF2-40B4-BE49-F238E27FC236}">
                <a16:creationId xmlns:a16="http://schemas.microsoft.com/office/drawing/2014/main" id="{F2EDD343-9B69-DB01-AF86-52D505DE454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C69B25F-EF9B-AEAF-DA66-861A3A6A1A20}"/>
              </a:ext>
            </a:extLst>
          </p:cNvPr>
          <p:cNvSpPr>
            <a:spLocks noGrp="1"/>
          </p:cNvSpPr>
          <p:nvPr>
            <p:ph type="sldNum" sz="quarter" idx="12"/>
          </p:nvPr>
        </p:nvSpPr>
        <p:spPr/>
        <p:txBody>
          <a:bodyPr/>
          <a:lstStyle/>
          <a:p>
            <a:fld id="{DCC248F6-D6C0-4B6A-8FB3-0FA97864E557}" type="slidenum">
              <a:rPr lang="en-IN" smtClean="0"/>
              <a:t>‹#›</a:t>
            </a:fld>
            <a:endParaRPr lang="en-IN"/>
          </a:p>
        </p:txBody>
      </p:sp>
    </p:spTree>
    <p:extLst>
      <p:ext uri="{BB962C8B-B14F-4D97-AF65-F5344CB8AC3E}">
        <p14:creationId xmlns:p14="http://schemas.microsoft.com/office/powerpoint/2010/main" val="4155036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02EC8D-9BDD-0625-C341-D06BF66B6427}"/>
              </a:ext>
            </a:extLst>
          </p:cNvPr>
          <p:cNvSpPr>
            <a:spLocks noGrp="1"/>
          </p:cNvSpPr>
          <p:nvPr>
            <p:ph type="dt" sz="half" idx="10"/>
          </p:nvPr>
        </p:nvSpPr>
        <p:spPr/>
        <p:txBody>
          <a:bodyPr/>
          <a:lstStyle/>
          <a:p>
            <a:fld id="{5DBC7180-CE58-4B7A-A9CA-A78E22AEE3BD}" type="datetimeFigureOut">
              <a:rPr lang="en-IN" smtClean="0"/>
              <a:t>08-02-2026</a:t>
            </a:fld>
            <a:endParaRPr lang="en-IN"/>
          </a:p>
        </p:txBody>
      </p:sp>
      <p:sp>
        <p:nvSpPr>
          <p:cNvPr id="3" name="Footer Placeholder 2">
            <a:extLst>
              <a:ext uri="{FF2B5EF4-FFF2-40B4-BE49-F238E27FC236}">
                <a16:creationId xmlns:a16="http://schemas.microsoft.com/office/drawing/2014/main" id="{5C2BDB16-A4E4-9927-A1EE-43C5624A8B5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AC9377B-2B0E-7F2B-E96E-015425E37112}"/>
              </a:ext>
            </a:extLst>
          </p:cNvPr>
          <p:cNvSpPr>
            <a:spLocks noGrp="1"/>
          </p:cNvSpPr>
          <p:nvPr>
            <p:ph type="sldNum" sz="quarter" idx="12"/>
          </p:nvPr>
        </p:nvSpPr>
        <p:spPr/>
        <p:txBody>
          <a:bodyPr/>
          <a:lstStyle/>
          <a:p>
            <a:fld id="{DCC248F6-D6C0-4B6A-8FB3-0FA97864E557}" type="slidenum">
              <a:rPr lang="en-IN" smtClean="0"/>
              <a:t>‹#›</a:t>
            </a:fld>
            <a:endParaRPr lang="en-IN"/>
          </a:p>
        </p:txBody>
      </p:sp>
    </p:spTree>
    <p:extLst>
      <p:ext uri="{BB962C8B-B14F-4D97-AF65-F5344CB8AC3E}">
        <p14:creationId xmlns:p14="http://schemas.microsoft.com/office/powerpoint/2010/main" val="26328540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F9240-1FAC-9F2D-1787-B23F70246A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D637133-8351-E7E3-3EF7-D70D40037A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9772790-F582-5CCC-0253-F16FF5F117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52A0C-ACF8-4055-3F04-D9E7CB7B31D8}"/>
              </a:ext>
            </a:extLst>
          </p:cNvPr>
          <p:cNvSpPr>
            <a:spLocks noGrp="1"/>
          </p:cNvSpPr>
          <p:nvPr>
            <p:ph type="dt" sz="half" idx="10"/>
          </p:nvPr>
        </p:nvSpPr>
        <p:spPr/>
        <p:txBody>
          <a:bodyPr/>
          <a:lstStyle/>
          <a:p>
            <a:fld id="{5DBC7180-CE58-4B7A-A9CA-A78E22AEE3BD}" type="datetimeFigureOut">
              <a:rPr lang="en-IN" smtClean="0"/>
              <a:t>08-02-2026</a:t>
            </a:fld>
            <a:endParaRPr lang="en-IN"/>
          </a:p>
        </p:txBody>
      </p:sp>
      <p:sp>
        <p:nvSpPr>
          <p:cNvPr id="6" name="Footer Placeholder 5">
            <a:extLst>
              <a:ext uri="{FF2B5EF4-FFF2-40B4-BE49-F238E27FC236}">
                <a16:creationId xmlns:a16="http://schemas.microsoft.com/office/drawing/2014/main" id="{E4EC160C-C2BB-BEEC-7FF8-06D1E0E3D5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3B8936-7EEC-50BD-9580-43E9CFAB3164}"/>
              </a:ext>
            </a:extLst>
          </p:cNvPr>
          <p:cNvSpPr>
            <a:spLocks noGrp="1"/>
          </p:cNvSpPr>
          <p:nvPr>
            <p:ph type="sldNum" sz="quarter" idx="12"/>
          </p:nvPr>
        </p:nvSpPr>
        <p:spPr/>
        <p:txBody>
          <a:bodyPr/>
          <a:lstStyle/>
          <a:p>
            <a:fld id="{DCC248F6-D6C0-4B6A-8FB3-0FA97864E557}" type="slidenum">
              <a:rPr lang="en-IN" smtClean="0"/>
              <a:t>‹#›</a:t>
            </a:fld>
            <a:endParaRPr lang="en-IN"/>
          </a:p>
        </p:txBody>
      </p:sp>
    </p:spTree>
    <p:extLst>
      <p:ext uri="{BB962C8B-B14F-4D97-AF65-F5344CB8AC3E}">
        <p14:creationId xmlns:p14="http://schemas.microsoft.com/office/powerpoint/2010/main" val="20666352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21324-CECB-6A79-0ADE-FB5F7E043C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4407312-4ECA-4FA2-A94F-7925FC2970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F83242C-58C2-1072-E3DE-0C8A7928DB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9D7F9-754F-AD80-C20A-B6F25A2DD29D}"/>
              </a:ext>
            </a:extLst>
          </p:cNvPr>
          <p:cNvSpPr>
            <a:spLocks noGrp="1"/>
          </p:cNvSpPr>
          <p:nvPr>
            <p:ph type="dt" sz="half" idx="10"/>
          </p:nvPr>
        </p:nvSpPr>
        <p:spPr/>
        <p:txBody>
          <a:bodyPr/>
          <a:lstStyle/>
          <a:p>
            <a:fld id="{5DBC7180-CE58-4B7A-A9CA-A78E22AEE3BD}" type="datetimeFigureOut">
              <a:rPr lang="en-IN" smtClean="0"/>
              <a:t>08-02-2026</a:t>
            </a:fld>
            <a:endParaRPr lang="en-IN"/>
          </a:p>
        </p:txBody>
      </p:sp>
      <p:sp>
        <p:nvSpPr>
          <p:cNvPr id="6" name="Footer Placeholder 5">
            <a:extLst>
              <a:ext uri="{FF2B5EF4-FFF2-40B4-BE49-F238E27FC236}">
                <a16:creationId xmlns:a16="http://schemas.microsoft.com/office/drawing/2014/main" id="{5298F1BD-F6A6-89BB-CB5B-A3069B55448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1218CD-C057-BFCA-2D0C-95A116B1807B}"/>
              </a:ext>
            </a:extLst>
          </p:cNvPr>
          <p:cNvSpPr>
            <a:spLocks noGrp="1"/>
          </p:cNvSpPr>
          <p:nvPr>
            <p:ph type="sldNum" sz="quarter" idx="12"/>
          </p:nvPr>
        </p:nvSpPr>
        <p:spPr/>
        <p:txBody>
          <a:bodyPr/>
          <a:lstStyle/>
          <a:p>
            <a:fld id="{DCC248F6-D6C0-4B6A-8FB3-0FA97864E557}" type="slidenum">
              <a:rPr lang="en-IN" smtClean="0"/>
              <a:t>‹#›</a:t>
            </a:fld>
            <a:endParaRPr lang="en-IN"/>
          </a:p>
        </p:txBody>
      </p:sp>
    </p:spTree>
    <p:extLst>
      <p:ext uri="{BB962C8B-B14F-4D97-AF65-F5344CB8AC3E}">
        <p14:creationId xmlns:p14="http://schemas.microsoft.com/office/powerpoint/2010/main" val="567227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97EDB-90BF-214B-BEB5-F771E8B68C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F1C42D-195C-281F-0C75-736F3460DC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C00C5B-4C1F-046A-0145-2978444D6F44}"/>
              </a:ext>
            </a:extLst>
          </p:cNvPr>
          <p:cNvSpPr>
            <a:spLocks noGrp="1"/>
          </p:cNvSpPr>
          <p:nvPr>
            <p:ph type="dt" sz="half" idx="10"/>
          </p:nvPr>
        </p:nvSpPr>
        <p:spPr/>
        <p:txBody>
          <a:bodyPr/>
          <a:lstStyle/>
          <a:p>
            <a:fld id="{5DBC7180-CE58-4B7A-A9CA-A78E22AEE3BD}" type="datetimeFigureOut">
              <a:rPr lang="en-IN" smtClean="0"/>
              <a:t>08-02-2026</a:t>
            </a:fld>
            <a:endParaRPr lang="en-IN"/>
          </a:p>
        </p:txBody>
      </p:sp>
      <p:sp>
        <p:nvSpPr>
          <p:cNvPr id="5" name="Footer Placeholder 4">
            <a:extLst>
              <a:ext uri="{FF2B5EF4-FFF2-40B4-BE49-F238E27FC236}">
                <a16:creationId xmlns:a16="http://schemas.microsoft.com/office/drawing/2014/main" id="{7DC0B6FC-59EE-227F-98EE-1349E69619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8F85CD-5614-89F8-0A58-A29A19837B24}"/>
              </a:ext>
            </a:extLst>
          </p:cNvPr>
          <p:cNvSpPr>
            <a:spLocks noGrp="1"/>
          </p:cNvSpPr>
          <p:nvPr>
            <p:ph type="sldNum" sz="quarter" idx="12"/>
          </p:nvPr>
        </p:nvSpPr>
        <p:spPr/>
        <p:txBody>
          <a:bodyPr/>
          <a:lstStyle/>
          <a:p>
            <a:fld id="{DCC248F6-D6C0-4B6A-8FB3-0FA97864E557}" type="slidenum">
              <a:rPr lang="en-IN" smtClean="0"/>
              <a:t>‹#›</a:t>
            </a:fld>
            <a:endParaRPr lang="en-IN"/>
          </a:p>
        </p:txBody>
      </p:sp>
    </p:spTree>
    <p:extLst>
      <p:ext uri="{BB962C8B-B14F-4D97-AF65-F5344CB8AC3E}">
        <p14:creationId xmlns:p14="http://schemas.microsoft.com/office/powerpoint/2010/main" val="258941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3B65B4-1D36-39BA-2D01-D1D9A22A90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41C1A7-0AC2-7957-16E1-2D6BC8B1D8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169A91-9973-A5E7-CA35-D0A71AA8ED88}"/>
              </a:ext>
            </a:extLst>
          </p:cNvPr>
          <p:cNvSpPr>
            <a:spLocks noGrp="1"/>
          </p:cNvSpPr>
          <p:nvPr>
            <p:ph type="dt" sz="half" idx="10"/>
          </p:nvPr>
        </p:nvSpPr>
        <p:spPr/>
        <p:txBody>
          <a:bodyPr/>
          <a:lstStyle/>
          <a:p>
            <a:fld id="{5DBC7180-CE58-4B7A-A9CA-A78E22AEE3BD}" type="datetimeFigureOut">
              <a:rPr lang="en-IN" smtClean="0"/>
              <a:t>08-02-2026</a:t>
            </a:fld>
            <a:endParaRPr lang="en-IN"/>
          </a:p>
        </p:txBody>
      </p:sp>
      <p:sp>
        <p:nvSpPr>
          <p:cNvPr id="5" name="Footer Placeholder 4">
            <a:extLst>
              <a:ext uri="{FF2B5EF4-FFF2-40B4-BE49-F238E27FC236}">
                <a16:creationId xmlns:a16="http://schemas.microsoft.com/office/drawing/2014/main" id="{FE0AE491-AD0E-9B54-54B2-43F859B36C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A1BDD1-71DB-445F-A7CB-3B338100829D}"/>
              </a:ext>
            </a:extLst>
          </p:cNvPr>
          <p:cNvSpPr>
            <a:spLocks noGrp="1"/>
          </p:cNvSpPr>
          <p:nvPr>
            <p:ph type="sldNum" sz="quarter" idx="12"/>
          </p:nvPr>
        </p:nvSpPr>
        <p:spPr/>
        <p:txBody>
          <a:bodyPr/>
          <a:lstStyle/>
          <a:p>
            <a:fld id="{DCC248F6-D6C0-4B6A-8FB3-0FA97864E557}" type="slidenum">
              <a:rPr lang="en-IN" smtClean="0"/>
              <a:t>‹#›</a:t>
            </a:fld>
            <a:endParaRPr lang="en-IN"/>
          </a:p>
        </p:txBody>
      </p:sp>
    </p:spTree>
    <p:extLst>
      <p:ext uri="{BB962C8B-B14F-4D97-AF65-F5344CB8AC3E}">
        <p14:creationId xmlns:p14="http://schemas.microsoft.com/office/powerpoint/2010/main" val="1016056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D83AA2-7F94-3C90-7691-FE9B6C60AB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FEE05D-E949-9F07-DFA4-7F4D5B6A72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84189D-920A-1D69-B9FA-81E954A459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BC7180-CE58-4B7A-A9CA-A78E22AEE3BD}" type="datetimeFigureOut">
              <a:rPr lang="en-IN" smtClean="0"/>
              <a:t>08-02-2026</a:t>
            </a:fld>
            <a:endParaRPr lang="en-IN"/>
          </a:p>
        </p:txBody>
      </p:sp>
      <p:sp>
        <p:nvSpPr>
          <p:cNvPr id="5" name="Footer Placeholder 4">
            <a:extLst>
              <a:ext uri="{FF2B5EF4-FFF2-40B4-BE49-F238E27FC236}">
                <a16:creationId xmlns:a16="http://schemas.microsoft.com/office/drawing/2014/main" id="{8C1FEE8F-3812-57E8-9B90-553C66A59F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4C2DC9A8-B1A8-F073-4170-753C3668AD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C248F6-D6C0-4B6A-8FB3-0FA97864E557}" type="slidenum">
              <a:rPr lang="en-IN" smtClean="0"/>
              <a:t>‹#›</a:t>
            </a:fld>
            <a:endParaRPr lang="en-IN"/>
          </a:p>
        </p:txBody>
      </p:sp>
    </p:spTree>
    <p:extLst>
      <p:ext uri="{BB962C8B-B14F-4D97-AF65-F5344CB8AC3E}">
        <p14:creationId xmlns:p14="http://schemas.microsoft.com/office/powerpoint/2010/main" val="3354601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9BDAA-9B70-C6C8-E9D7-24A5A4376F7B}"/>
              </a:ext>
            </a:extLst>
          </p:cNvPr>
          <p:cNvSpPr>
            <a:spLocks noGrp="1"/>
          </p:cNvSpPr>
          <p:nvPr>
            <p:ph type="ctrTitle"/>
          </p:nvPr>
        </p:nvSpPr>
        <p:spPr>
          <a:xfrm flipH="1">
            <a:off x="13840177" y="349392"/>
            <a:ext cx="45719" cy="45719"/>
          </a:xfrm>
        </p:spPr>
        <p:txBody>
          <a:bodyPr>
            <a:normAutofit fontScale="90000"/>
          </a:bodyPr>
          <a:lstStyle/>
          <a:p>
            <a:endParaRPr lang="en-IN" dirty="0"/>
          </a:p>
        </p:txBody>
      </p:sp>
      <p:sp>
        <p:nvSpPr>
          <p:cNvPr id="3" name="Subtitle 2">
            <a:extLst>
              <a:ext uri="{FF2B5EF4-FFF2-40B4-BE49-F238E27FC236}">
                <a16:creationId xmlns:a16="http://schemas.microsoft.com/office/drawing/2014/main" id="{CFA93FBE-F7AA-8821-1CF4-5AADFD3A79B9}"/>
              </a:ext>
            </a:extLst>
          </p:cNvPr>
          <p:cNvSpPr>
            <a:spLocks noGrp="1"/>
          </p:cNvSpPr>
          <p:nvPr>
            <p:ph type="subTitle" idx="1"/>
          </p:nvPr>
        </p:nvSpPr>
        <p:spPr>
          <a:xfrm>
            <a:off x="800599" y="2081885"/>
            <a:ext cx="10251223" cy="3500599"/>
          </a:xfrm>
        </p:spPr>
        <p:txBody>
          <a:bodyPr>
            <a:noAutofit/>
          </a:bodyPr>
          <a:lstStyle/>
          <a:p>
            <a:pPr algn="l"/>
            <a:r>
              <a:rPr lang="en-US" dirty="0"/>
              <a:t>This mini project report presents a detailed study of modern robotics and automation technologies. The report focuses on IoT integration, Artificial Intelligence in autonomous robots, PLC-based automation systems, and humanoid robot design concepts. The content is expanded to meet a 7-page academic requirement and is structured in a clear and understandable manner. Robotics and automation are core areas of mechanical, electrical, and electronics engineering. Their applications are rapidly increasing in industrial, medical, agricultural, and domestic sectors, making them an essential topic for engineering studies.</a:t>
            </a:r>
            <a:endParaRPr lang="en-IN" dirty="0"/>
          </a:p>
        </p:txBody>
      </p:sp>
      <p:sp>
        <p:nvSpPr>
          <p:cNvPr id="4" name="Rectangle 3">
            <a:extLst>
              <a:ext uri="{FF2B5EF4-FFF2-40B4-BE49-F238E27FC236}">
                <a16:creationId xmlns:a16="http://schemas.microsoft.com/office/drawing/2014/main" id="{6533AD9F-E2CD-49C4-6746-07071923D74B}"/>
              </a:ext>
            </a:extLst>
          </p:cNvPr>
          <p:cNvSpPr/>
          <p:nvPr/>
        </p:nvSpPr>
        <p:spPr>
          <a:xfrm>
            <a:off x="687254" y="530579"/>
            <a:ext cx="10477911" cy="2031325"/>
          </a:xfrm>
          <a:prstGeom prst="rect">
            <a:avLst/>
          </a:prstGeom>
          <a:noFill/>
        </p:spPr>
        <p:txBody>
          <a:bodyPr wrap="square" lIns="91440" tIns="45720" rIns="91440" bIns="45720">
            <a:spAutoFit/>
          </a:bodyPr>
          <a:lstStyle/>
          <a:p>
            <a:pPr algn="ctr"/>
            <a:r>
              <a:rPr lang="en-US" sz="3600" b="1" dirty="0"/>
              <a:t>MINI PROJECT REPORT ON ROBOTICS AND AUTOMATION</a:t>
            </a:r>
          </a:p>
          <a:p>
            <a:pPr algn="ct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828936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5440-4B35-46BB-5781-319E2C431CF3}"/>
              </a:ext>
            </a:extLst>
          </p:cNvPr>
          <p:cNvSpPr>
            <a:spLocks noGrp="1"/>
          </p:cNvSpPr>
          <p:nvPr>
            <p:ph type="title"/>
          </p:nvPr>
        </p:nvSpPr>
        <p:spPr>
          <a:xfrm>
            <a:off x="635000" y="390788"/>
            <a:ext cx="10515600" cy="1325563"/>
          </a:xfrm>
        </p:spPr>
        <p:txBody>
          <a:bodyPr>
            <a:normAutofit/>
          </a:bodyPr>
          <a:lstStyle/>
          <a:p>
            <a:r>
              <a:rPr lang="en-IN" sz="3600" b="1" dirty="0"/>
              <a:t>ABSTRACT</a:t>
            </a:r>
          </a:p>
        </p:txBody>
      </p:sp>
      <p:sp>
        <p:nvSpPr>
          <p:cNvPr id="3" name="Content Placeholder 2">
            <a:extLst>
              <a:ext uri="{FF2B5EF4-FFF2-40B4-BE49-F238E27FC236}">
                <a16:creationId xmlns:a16="http://schemas.microsoft.com/office/drawing/2014/main" id="{6B080379-BA49-6E28-23D1-F52ACBD231E8}"/>
              </a:ext>
            </a:extLst>
          </p:cNvPr>
          <p:cNvSpPr>
            <a:spLocks noGrp="1"/>
          </p:cNvSpPr>
          <p:nvPr>
            <p:ph idx="1"/>
          </p:nvPr>
        </p:nvSpPr>
        <p:spPr>
          <a:xfrm>
            <a:off x="635000" y="1599847"/>
            <a:ext cx="10515600" cy="4351338"/>
          </a:xfrm>
        </p:spPr>
        <p:txBody>
          <a:bodyPr>
            <a:noAutofit/>
          </a:bodyPr>
          <a:lstStyle/>
          <a:p>
            <a:r>
              <a:rPr lang="en-US" sz="2400" dirty="0"/>
              <a:t>The rapid advancement of robotics and automation has transformed traditional industries into intelligent and flexible production systems. This mini project provides an expanded overview of emerging technologies such as the Internet of Things (IoT), Artificial Intelligence (AI), Programmable Logic Controllers (PLC), and humanoid robot design concepts. The report discusses system architecture, working principles, applications, advantages, challenges, and future scope of each technology.</a:t>
            </a:r>
          </a:p>
          <a:p>
            <a:r>
              <a:rPr lang="en-US" sz="2400" dirty="0"/>
              <a:t> The purpose of this project is to help students understand how these technologies contribute to smart automation and how they are implemented in real-world systems. The report also highlights the impact of automation on productivity, safety, and industrial growth. </a:t>
            </a:r>
            <a:endParaRPr lang="en-IN" sz="2400" dirty="0"/>
          </a:p>
        </p:txBody>
      </p:sp>
    </p:spTree>
    <p:extLst>
      <p:ext uri="{BB962C8B-B14F-4D97-AF65-F5344CB8AC3E}">
        <p14:creationId xmlns:p14="http://schemas.microsoft.com/office/powerpoint/2010/main" val="3798869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3BD9C-A31A-DF45-9A54-809433367819}"/>
              </a:ext>
            </a:extLst>
          </p:cNvPr>
          <p:cNvSpPr>
            <a:spLocks noGrp="1"/>
          </p:cNvSpPr>
          <p:nvPr>
            <p:ph type="title"/>
          </p:nvPr>
        </p:nvSpPr>
        <p:spPr>
          <a:xfrm>
            <a:off x="555978" y="274814"/>
            <a:ext cx="10515600" cy="1325563"/>
          </a:xfrm>
        </p:spPr>
        <p:txBody>
          <a:bodyPr>
            <a:normAutofit/>
          </a:bodyPr>
          <a:lstStyle/>
          <a:p>
            <a:r>
              <a:rPr lang="en-IN" sz="3600" b="1" dirty="0"/>
              <a:t>INTRODUCTION</a:t>
            </a:r>
          </a:p>
        </p:txBody>
      </p:sp>
      <p:sp>
        <p:nvSpPr>
          <p:cNvPr id="3" name="Content Placeholder 2">
            <a:extLst>
              <a:ext uri="{FF2B5EF4-FFF2-40B4-BE49-F238E27FC236}">
                <a16:creationId xmlns:a16="http://schemas.microsoft.com/office/drawing/2014/main" id="{558FDA1D-E43E-9E84-8A67-2ED5A55353CD}"/>
              </a:ext>
            </a:extLst>
          </p:cNvPr>
          <p:cNvSpPr>
            <a:spLocks noGrp="1"/>
          </p:cNvSpPr>
          <p:nvPr>
            <p:ph idx="1"/>
          </p:nvPr>
        </p:nvSpPr>
        <p:spPr>
          <a:xfrm>
            <a:off x="555978" y="1389150"/>
            <a:ext cx="10515600" cy="4351338"/>
          </a:xfrm>
        </p:spPr>
        <p:txBody>
          <a:bodyPr>
            <a:noAutofit/>
          </a:bodyPr>
          <a:lstStyle/>
          <a:p>
            <a:r>
              <a:rPr lang="en-US" sz="2400" dirty="0"/>
              <a:t>Robotics is the branch of engineering that deals with the design, construction, operation, and application of robots. Automation refers to the use of control systems and information technologies to reduce human involvement in industrial processes. Together, robotics and automation aim to improve efficiency, accuracy, quality, and safety in various applications.</a:t>
            </a:r>
          </a:p>
          <a:p>
            <a:r>
              <a:rPr lang="en-US" sz="2400" dirty="0"/>
              <a:t>In early industries, most operations were manual, leading to low productivity and higher chances of errors. With the introduction of automation, machines began performing repetitive tasks more efficiently. Modern robotics combines mechanical systems, electronics, sensors, and software to create intelligent machines capable of decision-making. </a:t>
            </a:r>
          </a:p>
          <a:p>
            <a:r>
              <a:rPr lang="en-US" sz="2400" dirty="0"/>
              <a:t>Recent developments in IoT, AI, and PLC technologies have enabled robots to communicate, learn, and adapt to their environments. These technologies are essential components of Industry 4.0, which focuses on smart manufacturing and digital </a:t>
            </a:r>
            <a:r>
              <a:rPr lang="en-US" dirty="0"/>
              <a:t>transformation.</a:t>
            </a:r>
            <a:endParaRPr lang="en-IN" dirty="0"/>
          </a:p>
        </p:txBody>
      </p:sp>
    </p:spTree>
    <p:extLst>
      <p:ext uri="{BB962C8B-B14F-4D97-AF65-F5344CB8AC3E}">
        <p14:creationId xmlns:p14="http://schemas.microsoft.com/office/powerpoint/2010/main" val="3622510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E5DF1-0621-F6E0-16F9-9C51D619F936}"/>
              </a:ext>
            </a:extLst>
          </p:cNvPr>
          <p:cNvSpPr>
            <a:spLocks noGrp="1"/>
          </p:cNvSpPr>
          <p:nvPr>
            <p:ph type="title"/>
          </p:nvPr>
        </p:nvSpPr>
        <p:spPr>
          <a:xfrm>
            <a:off x="601133" y="207080"/>
            <a:ext cx="10515600" cy="1325563"/>
          </a:xfrm>
        </p:spPr>
        <p:txBody>
          <a:bodyPr>
            <a:normAutofit/>
          </a:bodyPr>
          <a:lstStyle/>
          <a:p>
            <a:r>
              <a:rPr lang="en-US" sz="3600" b="1" dirty="0"/>
              <a:t>IOT IN ROBOTICS AND AUTOMATION</a:t>
            </a:r>
            <a:endParaRPr lang="en-IN" sz="3600" b="1" dirty="0"/>
          </a:p>
        </p:txBody>
      </p:sp>
      <p:sp>
        <p:nvSpPr>
          <p:cNvPr id="3" name="Content Placeholder 2">
            <a:extLst>
              <a:ext uri="{FF2B5EF4-FFF2-40B4-BE49-F238E27FC236}">
                <a16:creationId xmlns:a16="http://schemas.microsoft.com/office/drawing/2014/main" id="{3472D2C0-CF01-AD15-698B-0A100A3E498A}"/>
              </a:ext>
            </a:extLst>
          </p:cNvPr>
          <p:cNvSpPr>
            <a:spLocks noGrp="1"/>
          </p:cNvSpPr>
          <p:nvPr>
            <p:ph idx="1"/>
          </p:nvPr>
        </p:nvSpPr>
        <p:spPr>
          <a:xfrm>
            <a:off x="601133" y="1253331"/>
            <a:ext cx="10515600" cy="4351338"/>
          </a:xfrm>
        </p:spPr>
        <p:txBody>
          <a:bodyPr>
            <a:noAutofit/>
          </a:bodyPr>
          <a:lstStyle/>
          <a:p>
            <a:r>
              <a:rPr lang="en-US" sz="2400" dirty="0"/>
              <a:t>The Internet of Things (IoT) is a technology that connects physical devices such as sensors, machines, and robots to the internet, allowing them to collect and exchange data. In robotics and automation, IoT enables seamless communication between machines, control systems, and cloud platforms.</a:t>
            </a:r>
          </a:p>
          <a:p>
            <a:r>
              <a:rPr lang="en-US" sz="2400" dirty="0"/>
              <a:t>An IoT-based robotic system typically consists of sensors for data acquisition, microcontrollers or embedded systems for processing, communication modules for data transmission, and cloud platforms for data storage and analysis. This architecture allows real time monitoring and control of robotic systems from remote locations. It enables predictive maintenance by analyzing sensor data to detect potential failures before they occur. IoT-based automation improves energy efficiency, reduces downtime, and enhances overall system performance. </a:t>
            </a:r>
          </a:p>
          <a:p>
            <a:r>
              <a:rPr lang="en-US" sz="2400" dirty="0"/>
              <a:t>Applications of IoT in robotics include automated manufacturing lines, warehouse automation, agricultural robots, and smart home automation systems.</a:t>
            </a:r>
            <a:endParaRPr lang="en-IN" sz="2400" dirty="0"/>
          </a:p>
        </p:txBody>
      </p:sp>
    </p:spTree>
    <p:extLst>
      <p:ext uri="{BB962C8B-B14F-4D97-AF65-F5344CB8AC3E}">
        <p14:creationId xmlns:p14="http://schemas.microsoft.com/office/powerpoint/2010/main" val="1219024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32591-3EAE-BFD3-1E3D-A1D34B95756E}"/>
              </a:ext>
            </a:extLst>
          </p:cNvPr>
          <p:cNvSpPr>
            <a:spLocks noGrp="1"/>
          </p:cNvSpPr>
          <p:nvPr>
            <p:ph type="title"/>
          </p:nvPr>
        </p:nvSpPr>
        <p:spPr>
          <a:xfrm>
            <a:off x="746478" y="342547"/>
            <a:ext cx="10515600" cy="1325563"/>
          </a:xfrm>
        </p:spPr>
        <p:txBody>
          <a:bodyPr>
            <a:normAutofit/>
          </a:bodyPr>
          <a:lstStyle/>
          <a:p>
            <a:r>
              <a:rPr lang="en-IN" sz="3600" b="1" dirty="0"/>
              <a:t>ROLE OF AI IN AUTONOMOUS ROBOTS</a:t>
            </a:r>
          </a:p>
        </p:txBody>
      </p:sp>
      <p:sp>
        <p:nvSpPr>
          <p:cNvPr id="3" name="Content Placeholder 2">
            <a:extLst>
              <a:ext uri="{FF2B5EF4-FFF2-40B4-BE49-F238E27FC236}">
                <a16:creationId xmlns:a16="http://schemas.microsoft.com/office/drawing/2014/main" id="{08FCBA3C-3462-07F8-49DA-0E7E45B037DE}"/>
              </a:ext>
            </a:extLst>
          </p:cNvPr>
          <p:cNvSpPr>
            <a:spLocks noGrp="1"/>
          </p:cNvSpPr>
          <p:nvPr>
            <p:ph idx="1"/>
          </p:nvPr>
        </p:nvSpPr>
        <p:spPr>
          <a:xfrm>
            <a:off x="746478" y="1453092"/>
            <a:ext cx="10699044" cy="5229930"/>
          </a:xfrm>
        </p:spPr>
        <p:txBody>
          <a:bodyPr>
            <a:normAutofit fontScale="92500" lnSpcReduction="20000"/>
          </a:bodyPr>
          <a:lstStyle/>
          <a:p>
            <a:r>
              <a:rPr lang="en-US" dirty="0"/>
              <a:t>Artificial Intelligence enables robots to operate autonomously by providing them with the ability to sense, reason, and act. AI algorithms allow robots to analyze data, recognize patterns, and make decisions without human intervention. This capability is essential for robots operating in dynamic and unstructured environments. Machine learning, a key branch of AI, enables robots to learn from experience and improve performance over time. Computer vision allows robots to interpret visual information using cameras and image processing techniques. Natural language processing enables human-robot interaction through speech and text. </a:t>
            </a:r>
          </a:p>
          <a:p>
            <a:r>
              <a:rPr lang="en-US" dirty="0"/>
              <a:t>AI-based autonomous robots are widely used in self-driving vehicles, medical surgery systems, exploration robots, and service robots. These robots can adapt to changing conditions and perform complex tasks with high accuracy. Despite their advantages, AI-powered robots face challenges such as high computational requirements, data dependency, ethical concerns, and safety issues. Continuous research is being conducted to address these challenges</a:t>
            </a:r>
            <a:endParaRPr lang="en-IN" dirty="0"/>
          </a:p>
        </p:txBody>
      </p:sp>
    </p:spTree>
    <p:extLst>
      <p:ext uri="{BB962C8B-B14F-4D97-AF65-F5344CB8AC3E}">
        <p14:creationId xmlns:p14="http://schemas.microsoft.com/office/powerpoint/2010/main" val="3469757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8E28C-6551-F200-B03A-521E42B5CB7D}"/>
              </a:ext>
            </a:extLst>
          </p:cNvPr>
          <p:cNvSpPr>
            <a:spLocks noGrp="1"/>
          </p:cNvSpPr>
          <p:nvPr>
            <p:ph type="title"/>
          </p:nvPr>
        </p:nvSpPr>
        <p:spPr>
          <a:xfrm>
            <a:off x="759178" y="365125"/>
            <a:ext cx="10515600" cy="1325563"/>
          </a:xfrm>
        </p:spPr>
        <p:txBody>
          <a:bodyPr>
            <a:normAutofit/>
          </a:bodyPr>
          <a:lstStyle/>
          <a:p>
            <a:r>
              <a:rPr lang="en-IN" sz="3600" b="1" dirty="0"/>
              <a:t>PLC-BASED AUTOMATION SYSTEM DESIGN</a:t>
            </a:r>
          </a:p>
        </p:txBody>
      </p:sp>
      <p:sp>
        <p:nvSpPr>
          <p:cNvPr id="3" name="Content Placeholder 2">
            <a:extLst>
              <a:ext uri="{FF2B5EF4-FFF2-40B4-BE49-F238E27FC236}">
                <a16:creationId xmlns:a16="http://schemas.microsoft.com/office/drawing/2014/main" id="{E8437773-DB89-1D6C-1724-C103FCF6E874}"/>
              </a:ext>
            </a:extLst>
          </p:cNvPr>
          <p:cNvSpPr>
            <a:spLocks noGrp="1"/>
          </p:cNvSpPr>
          <p:nvPr>
            <p:ph idx="1"/>
          </p:nvPr>
        </p:nvSpPr>
        <p:spPr>
          <a:xfrm>
            <a:off x="759178" y="1419225"/>
            <a:ext cx="10515600" cy="5073650"/>
          </a:xfrm>
        </p:spPr>
        <p:txBody>
          <a:bodyPr>
            <a:normAutofit fontScale="92500" lnSpcReduction="10000"/>
          </a:bodyPr>
          <a:lstStyle/>
          <a:p>
            <a:r>
              <a:rPr lang="en-US" dirty="0"/>
              <a:t>Programmable Logic Controllers (PLCs) are industrial-grade digital computers designed for controlling machines and processes. PLCs are widely used due to their reliability, durability, and ability to operate in harsh industrial environments. A PLC-based automation system includes input devices such as sensors, push buttons, and switches, a PLC controller that executes the control program, and output devices such as motors, solenoids, and actuators. </a:t>
            </a:r>
          </a:p>
          <a:p>
            <a:r>
              <a:rPr lang="en-US" dirty="0"/>
              <a:t>PLCs are programmed using languages like ladder logic, function block diagrams, and structured text. PLCs offer several advantages over traditional relay-based control systems, including easy modification of control logic, reduced wiring, faster troubleshooting, and scalability. They are commonly used in conveyor systems, packaging machines, traffic signal control, and process industries. The integration of PLCs with IoT and SCADA systems further enhances automation by enabling remote monitoring and control</a:t>
            </a:r>
            <a:endParaRPr lang="en-IN" dirty="0"/>
          </a:p>
        </p:txBody>
      </p:sp>
    </p:spTree>
    <p:extLst>
      <p:ext uri="{BB962C8B-B14F-4D97-AF65-F5344CB8AC3E}">
        <p14:creationId xmlns:p14="http://schemas.microsoft.com/office/powerpoint/2010/main" val="4284908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897F4-6871-044C-9CC9-74E3224DED09}"/>
              </a:ext>
            </a:extLst>
          </p:cNvPr>
          <p:cNvSpPr>
            <a:spLocks noGrp="1"/>
          </p:cNvSpPr>
          <p:nvPr>
            <p:ph type="title"/>
          </p:nvPr>
        </p:nvSpPr>
        <p:spPr>
          <a:xfrm>
            <a:off x="747888" y="365126"/>
            <a:ext cx="10515600" cy="1325563"/>
          </a:xfrm>
        </p:spPr>
        <p:txBody>
          <a:bodyPr>
            <a:normAutofit/>
          </a:bodyPr>
          <a:lstStyle/>
          <a:p>
            <a:r>
              <a:rPr lang="en-IN" sz="3600" b="1" dirty="0"/>
              <a:t>HUMANOID ROBOT DESIGN CONCEPTS</a:t>
            </a:r>
          </a:p>
        </p:txBody>
      </p:sp>
      <p:sp>
        <p:nvSpPr>
          <p:cNvPr id="3" name="Content Placeholder 2">
            <a:extLst>
              <a:ext uri="{FF2B5EF4-FFF2-40B4-BE49-F238E27FC236}">
                <a16:creationId xmlns:a16="http://schemas.microsoft.com/office/drawing/2014/main" id="{D3B6BD8C-AFB5-0B1D-1DE3-173F0C29024C}"/>
              </a:ext>
            </a:extLst>
          </p:cNvPr>
          <p:cNvSpPr>
            <a:spLocks noGrp="1"/>
          </p:cNvSpPr>
          <p:nvPr>
            <p:ph idx="1"/>
          </p:nvPr>
        </p:nvSpPr>
        <p:spPr>
          <a:xfrm>
            <a:off x="747888" y="1475669"/>
            <a:ext cx="10515600" cy="5017205"/>
          </a:xfrm>
        </p:spPr>
        <p:txBody>
          <a:bodyPr>
            <a:normAutofit/>
          </a:bodyPr>
          <a:lstStyle/>
          <a:p>
            <a:r>
              <a:rPr lang="en-US" sz="2400" dirty="0"/>
              <a:t>Humanoid robots are designed to resemble the human body in structure and movement. The primary objective of humanoid robot design is to enable natural interaction with humans and to perform tasks in environments designed for human use. Key components of humanoid robots include mechanical joints, actuators, sensors, control units, and power systems. Actuators provide movement, while sensors such as cameras, gyroscopes, and force sensors enable perception and balance. </a:t>
            </a:r>
          </a:p>
          <a:p>
            <a:r>
              <a:rPr lang="en-US" sz="2400" dirty="0"/>
              <a:t>Advanced humanoid robots use AI techniques for speech recognition, facial expression analysis, and emotion detection. These capabilities allow humanoid robots to assist in healthcare, education, customer service, and research. The design and control of humanoid robots are complex due to challenges related to balance, coordination, energy consumption, and cost.</a:t>
            </a:r>
            <a:endParaRPr lang="en-IN" sz="2400" dirty="0"/>
          </a:p>
        </p:txBody>
      </p:sp>
    </p:spTree>
    <p:extLst>
      <p:ext uri="{BB962C8B-B14F-4D97-AF65-F5344CB8AC3E}">
        <p14:creationId xmlns:p14="http://schemas.microsoft.com/office/powerpoint/2010/main" val="2657899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D21B0-21F0-7D9F-E1E5-E4B7B45A9FDF}"/>
              </a:ext>
            </a:extLst>
          </p:cNvPr>
          <p:cNvSpPr>
            <a:spLocks noGrp="1"/>
          </p:cNvSpPr>
          <p:nvPr>
            <p:ph type="title"/>
          </p:nvPr>
        </p:nvSpPr>
        <p:spPr>
          <a:xfrm>
            <a:off x="838200" y="500591"/>
            <a:ext cx="10515600" cy="1325563"/>
          </a:xfrm>
        </p:spPr>
        <p:txBody>
          <a:bodyPr>
            <a:normAutofit/>
          </a:bodyPr>
          <a:lstStyle/>
          <a:p>
            <a:r>
              <a:rPr lang="en-IN" sz="3600" b="1" dirty="0"/>
              <a:t>ADVANTAGES AND LIMITATIONS</a:t>
            </a:r>
          </a:p>
        </p:txBody>
      </p:sp>
      <p:sp>
        <p:nvSpPr>
          <p:cNvPr id="3" name="Content Placeholder 2">
            <a:extLst>
              <a:ext uri="{FF2B5EF4-FFF2-40B4-BE49-F238E27FC236}">
                <a16:creationId xmlns:a16="http://schemas.microsoft.com/office/drawing/2014/main" id="{3A485160-7D0C-058B-CA4D-62639EFB867E}"/>
              </a:ext>
            </a:extLst>
          </p:cNvPr>
          <p:cNvSpPr>
            <a:spLocks noGrp="1"/>
          </p:cNvSpPr>
          <p:nvPr>
            <p:ph idx="1"/>
          </p:nvPr>
        </p:nvSpPr>
        <p:spPr>
          <a:xfrm>
            <a:off x="838200" y="1713265"/>
            <a:ext cx="10515600" cy="4351338"/>
          </a:xfrm>
        </p:spPr>
        <p:txBody>
          <a:bodyPr>
            <a:normAutofit/>
          </a:bodyPr>
          <a:lstStyle/>
          <a:p>
            <a:r>
              <a:rPr lang="en-US" sz="2400" dirty="0"/>
              <a:t>Robotics and automation offer numerous advantages including increased productivity, improved accuracy, consistent quality, and enhanced safety. Automated systems can operate continuously and perform tasks that are dangerous or difficult for humans. Automation reduces human error and increases efficiency in industrial processes. </a:t>
            </a:r>
          </a:p>
          <a:p>
            <a:r>
              <a:rPr lang="en-US" sz="2400" dirty="0"/>
              <a:t>Robots can work in hazardous environments such as high temperatures, toxic conditions, and confined spaces. However, robotics and automation systems have limitations such as high initial investment, complex system integration, and maintenance challenges. The adoption of automation may also require workforce training and reskilling</a:t>
            </a:r>
            <a:endParaRPr lang="en-IN" sz="2400" dirty="0"/>
          </a:p>
        </p:txBody>
      </p:sp>
    </p:spTree>
    <p:extLst>
      <p:ext uri="{BB962C8B-B14F-4D97-AF65-F5344CB8AC3E}">
        <p14:creationId xmlns:p14="http://schemas.microsoft.com/office/powerpoint/2010/main" val="1486607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D2BC8-A014-F625-5BC7-A9C85BEE3F63}"/>
              </a:ext>
            </a:extLst>
          </p:cNvPr>
          <p:cNvSpPr>
            <a:spLocks noGrp="1"/>
          </p:cNvSpPr>
          <p:nvPr>
            <p:ph type="title"/>
          </p:nvPr>
        </p:nvSpPr>
        <p:spPr>
          <a:xfrm>
            <a:off x="838200" y="500062"/>
            <a:ext cx="10515600" cy="1325563"/>
          </a:xfrm>
        </p:spPr>
        <p:txBody>
          <a:bodyPr>
            <a:normAutofit/>
          </a:bodyPr>
          <a:lstStyle/>
          <a:p>
            <a:r>
              <a:rPr lang="en-IN" sz="3600" b="1" dirty="0"/>
              <a:t>CONCLUSION</a:t>
            </a:r>
          </a:p>
        </p:txBody>
      </p:sp>
      <p:sp>
        <p:nvSpPr>
          <p:cNvPr id="3" name="Content Placeholder 2">
            <a:extLst>
              <a:ext uri="{FF2B5EF4-FFF2-40B4-BE49-F238E27FC236}">
                <a16:creationId xmlns:a16="http://schemas.microsoft.com/office/drawing/2014/main" id="{5C835726-0221-4350-E18F-898184F2B8EE}"/>
              </a:ext>
            </a:extLst>
          </p:cNvPr>
          <p:cNvSpPr>
            <a:spLocks noGrp="1"/>
          </p:cNvSpPr>
          <p:nvPr>
            <p:ph idx="1"/>
          </p:nvPr>
        </p:nvSpPr>
        <p:spPr/>
        <p:txBody>
          <a:bodyPr>
            <a:normAutofit/>
          </a:bodyPr>
          <a:lstStyle/>
          <a:p>
            <a:r>
              <a:rPr lang="en-US" sz="2400" dirty="0"/>
              <a:t>Robotics and automation are transforming industries by enabling intelligent, efficient, and flexible systems. The integration of IoT, AI, PLCs, and humanoid robot technologies has led to the development of smart automation solutions that improve productivity and safety. </a:t>
            </a:r>
          </a:p>
          <a:p>
            <a:r>
              <a:rPr lang="en-US" sz="2400" dirty="0"/>
              <a:t>As technology continues to evolve, robotics and automation will play an increasingly important role in industrial and service sectors. Understanding these technologies provides a strong foundation for future innovation and development in automation engineering.</a:t>
            </a:r>
            <a:endParaRPr lang="en-IN" sz="2400" dirty="0"/>
          </a:p>
        </p:txBody>
      </p:sp>
    </p:spTree>
    <p:extLst>
      <p:ext uri="{BB962C8B-B14F-4D97-AF65-F5344CB8AC3E}">
        <p14:creationId xmlns:p14="http://schemas.microsoft.com/office/powerpoint/2010/main" val="12163487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1201</Words>
  <Application>Microsoft Office PowerPoint</Application>
  <PresentationFormat>Widescreen</PresentationFormat>
  <Paragraphs>28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ABSTRACT</vt:lpstr>
      <vt:lpstr>INTRODUCTION</vt:lpstr>
      <vt:lpstr>IOT IN ROBOTICS AND AUTOMATION</vt:lpstr>
      <vt:lpstr>ROLE OF AI IN AUTONOMOUS ROBOTS</vt:lpstr>
      <vt:lpstr>PLC-BASED AUTOMATION SYSTEM DESIGN</vt:lpstr>
      <vt:lpstr>HUMANOID ROBOT DESIGN CONCEPTS</vt:lpstr>
      <vt:lpstr>ADVANTAGES AND LIMITATIONS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SUGANESHWAR HARIBABU</dc:creator>
  <cp:lastModifiedBy>SUGANESHWAR HARIBABU</cp:lastModifiedBy>
  <cp:revision>1</cp:revision>
  <dcterms:created xsi:type="dcterms:W3CDTF">2026-02-08T16:54:57Z</dcterms:created>
  <dcterms:modified xsi:type="dcterms:W3CDTF">2026-02-08T16:55:38Z</dcterms:modified>
</cp:coreProperties>
</file>